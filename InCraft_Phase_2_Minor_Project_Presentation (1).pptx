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966960" y="0"/>
            <a:ext cx="2221992" cy="1097280"/>
          </a:xfrm>
          <a:prstGeom prst="rect">
            <a:avLst/>
          </a:prstGeom>
          <a:solidFill>
            <a:srgbClr val="28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652760" y="1097280"/>
            <a:ext cx="1536192" cy="1828800"/>
          </a:xfrm>
          <a:prstGeom prst="rect">
            <a:avLst/>
          </a:prstGeom>
          <a:solidFill>
            <a:srgbClr val="41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2377440" cy="640080"/>
          </a:xfrm>
          <a:prstGeom prst="rect">
            <a:avLst/>
          </a:prstGeom>
          <a:solidFill>
            <a:srgbClr val="28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377440" y="6217920"/>
            <a:ext cx="1188720" cy="640080"/>
          </a:xfrm>
          <a:prstGeom prst="rect">
            <a:avLst/>
          </a:prstGeom>
          <a:solidFill>
            <a:srgbClr val="41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9509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ptos Display"/>
              </a:defRPr>
            </a:pPr>
            <a:r>
              <a:t>InCraft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1AAD2"/>
                </a:solidFill>
              </a:defRPr>
            </a:pPr>
            <a:r>
              <a:t>The Art of Intelligent Inventory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166360"/>
            <a:ext cx="148662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 lang="en-US" dirty="0"/>
              <a:t>by – Ayush Anand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rPr lang="en-US" dirty="0"/>
              <a:t>24BCD10053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  <a:latin typeface="Aptos Display"/>
              </a:defRPr>
            </a:pPr>
            <a: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37D87"/>
                </a:solidFill>
                <a:latin typeface="Aptos"/>
              </a:defRPr>
            </a:pPr>
            <a:r>
              <a:t>Why InCraft is needed and what the system is designed to achieve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394960" cy="448056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Ins="164592" rtlCol="0" anchor="ctr"/>
          <a:lstStyle/>
          <a:p>
            <a:pPr algn="ctr">
              <a:defRPr sz="1700" b="1">
                <a:solidFill>
                  <a:srgbClr val="192337"/>
                </a:solidFill>
              </a:defRPr>
            </a:pPr>
            <a:r>
              <a:t>Problem Statement</a:t>
            </a:r>
          </a:p>
          <a:p>
            <a:pPr>
              <a:spcBef>
                <a:spcPts val="600"/>
              </a:spcBef>
              <a:defRPr sz="1250">
                <a:solidFill>
                  <a:srgbClr val="2D343C"/>
                </a:solidFill>
              </a:defRPr>
            </a:pPr>
            <a:r>
              <a:t>Manual inventory tracking can cause stock inaccuracies, delayed updates, and difficulty identifying trends.</a:t>
            </a:r>
          </a:p>
          <a:p>
            <a:pPr>
              <a:spcBef>
                <a:spcPts val="600"/>
              </a:spcBef>
              <a:defRPr sz="1250">
                <a:solidFill>
                  <a:srgbClr val="2D343C"/>
                </a:solidFill>
              </a:defRPr>
            </a:pPr>
            <a:r>
              <a:t>Sales records are often separated from inventory data, making analysis slower and less reliable.</a:t>
            </a:r>
          </a:p>
          <a:p>
            <a:pPr>
              <a:spcBef>
                <a:spcPts val="600"/>
              </a:spcBef>
              <a:defRPr sz="1250">
                <a:solidFill>
                  <a:srgbClr val="2D343C"/>
                </a:solidFill>
              </a:defRPr>
            </a:pPr>
            <a:r>
              <a:t>Businesses need a simple system that combines stock management, sales records, search, and analytics in one place.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73152" cy="4480560"/>
          </a:xfrm>
          <a:prstGeom prst="rect">
            <a:avLst/>
          </a:prstGeom>
          <a:solidFill>
            <a:srgbClr val="E68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9632" y="1325880"/>
            <a:ext cx="5394960" cy="448056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Ins="164592" rtlCol="0" anchor="ctr"/>
          <a:lstStyle/>
          <a:p>
            <a:pPr algn="ctr">
              <a:defRPr sz="1700" b="1">
                <a:solidFill>
                  <a:srgbClr val="192337"/>
                </a:solidFill>
              </a:defRPr>
            </a:pPr>
            <a:r>
              <a:t>Project Objectives</a:t>
            </a:r>
          </a:p>
          <a:p>
            <a:pPr>
              <a:spcBef>
                <a:spcPts val="600"/>
              </a:spcBef>
              <a:defRPr sz="1250">
                <a:solidFill>
                  <a:srgbClr val="2D343C"/>
                </a:solidFill>
              </a:defRPr>
            </a:pPr>
            <a:r>
              <a:t>Maintain centralized product and inventory records.</a:t>
            </a:r>
          </a:p>
          <a:p>
            <a:pPr>
              <a:spcBef>
                <a:spcPts val="600"/>
              </a:spcBef>
              <a:defRPr sz="1250">
                <a:solidFill>
                  <a:srgbClr val="2D343C"/>
                </a:solidFill>
              </a:defRPr>
            </a:pPr>
            <a:r>
              <a:t>Record sales and automatically reflect stock changes.</a:t>
            </a:r>
          </a:p>
          <a:p>
            <a:pPr>
              <a:spcBef>
                <a:spcPts val="600"/>
              </a:spcBef>
              <a:defRPr sz="1250">
                <a:solidFill>
                  <a:srgbClr val="2D343C"/>
                </a:solidFill>
              </a:defRPr>
            </a:pPr>
            <a:r>
              <a:t>Provide search, filtering, import/export, print, and download capabilities.</a:t>
            </a:r>
          </a:p>
          <a:p>
            <a:pPr>
              <a:spcBef>
                <a:spcPts val="600"/>
              </a:spcBef>
              <a:defRPr sz="1250">
                <a:solidFill>
                  <a:srgbClr val="2D343C"/>
                </a:solidFill>
              </a:defRPr>
            </a:pPr>
            <a:r>
              <a:t>Present dashboards and analytics to support data-driven decisions.</a:t>
            </a:r>
          </a:p>
          <a:p>
            <a:pPr>
              <a:spcBef>
                <a:spcPts val="600"/>
              </a:spcBef>
              <a:defRPr sz="1250">
                <a:solidFill>
                  <a:srgbClr val="2D343C"/>
                </a:solidFill>
              </a:defRPr>
            </a:pPr>
            <a:r>
              <a:t>Maintain activity/history records for better traceability.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2" y="1325880"/>
            <a:ext cx="73152" cy="4480560"/>
          </a:xfrm>
          <a:prstGeom prst="rect">
            <a:avLst/>
          </a:prstGeom>
          <a:solidFill>
            <a:srgbClr val="28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5624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7"/>
                </a:solidFill>
              </a:defRPr>
            </a:pPr>
            <a:r>
              <a:t>InCraft — The Art of Intelligent Inventory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28816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37D87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  <a:latin typeface="Aptos Display"/>
              </a:defRPr>
            </a:pPr>
            <a:r>
              <a:t>System Block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37D87"/>
                </a:solidFill>
                <a:latin typeface="Aptos"/>
              </a:defRPr>
            </a:pPr>
            <a:r>
              <a:t>High-level architecture and flow of InCraft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514600"/>
            <a:ext cx="1508760" cy="914400"/>
          </a:xfrm>
          <a:prstGeom prst="roundRect">
            <a:avLst/>
          </a:prstGeom>
          <a:solidFill>
            <a:srgbClr val="F2F6FA"/>
          </a:solidFill>
          <a:ln w="25400">
            <a:solidFill>
              <a:srgbClr val="E6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2337"/>
                </a:solidFill>
              </a:defRPr>
            </a:pPr>
            <a:r>
              <a:t>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148840"/>
            <a:ext cx="2240280" cy="1645920"/>
          </a:xfrm>
          <a:prstGeom prst="roundRect">
            <a:avLst/>
          </a:prstGeom>
          <a:solidFill>
            <a:srgbClr val="F2F6FA"/>
          </a:solidFill>
          <a:ln w="25400">
            <a:solidFill>
              <a:srgbClr val="28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2337"/>
                </a:solidFill>
              </a:defRPr>
            </a:pPr>
            <a:r>
              <a:t>Web Interface</a:t>
            </a:r>
            <a:br/>
            <a:r>
              <a:t>HTML • CSS • JavaScript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23560" y="2148840"/>
            <a:ext cx="2240280" cy="1645920"/>
          </a:xfrm>
          <a:prstGeom prst="roundRect">
            <a:avLst/>
          </a:prstGeom>
          <a:solidFill>
            <a:srgbClr val="F2F6FA"/>
          </a:solidFill>
          <a:ln w="25400">
            <a:solidFill>
              <a:srgbClr val="41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2337"/>
                </a:solidFill>
              </a:defRPr>
            </a:pPr>
            <a:r>
              <a:t>Flask Backend</a:t>
            </a:r>
            <a:br/>
            <a:r>
              <a:t>Routes • Business Logic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2148840"/>
            <a:ext cx="2331720" cy="1645920"/>
          </a:xfrm>
          <a:prstGeom prst="roundRect">
            <a:avLst/>
          </a:prstGeom>
          <a:solidFill>
            <a:srgbClr val="F2F6FA"/>
          </a:solidFill>
          <a:ln w="25400">
            <a:solidFill>
              <a:srgbClr val="37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2337"/>
                </a:solidFill>
              </a:defRPr>
            </a:pPr>
            <a:r>
              <a:t>MySQL Database</a:t>
            </a:r>
            <a:br/>
            <a:r>
              <a:t>Products • Sales • Users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2971800"/>
            <a:ext cx="548640" cy="0"/>
          </a:xfrm>
          <a:prstGeom prst="line">
            <a:avLst/>
          </a:prstGeom>
          <a:ln w="31750">
            <a:solidFill>
              <a:srgbClr val="1923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983480" y="2971800"/>
            <a:ext cx="640080" cy="0"/>
          </a:xfrm>
          <a:prstGeom prst="line">
            <a:avLst/>
          </a:prstGeom>
          <a:ln w="31750">
            <a:solidFill>
              <a:srgbClr val="1923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863840" y="2971800"/>
            <a:ext cx="640080" cy="0"/>
          </a:xfrm>
          <a:prstGeom prst="line">
            <a:avLst/>
          </a:prstGeom>
          <a:ln w="31750">
            <a:solidFill>
              <a:srgbClr val="1923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97280" y="4572000"/>
            <a:ext cx="18288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2D343C"/>
                </a:solidFill>
              </a:defRPr>
            </a:pPr>
            <a:r>
              <a:t>Inventory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11680" y="3794760"/>
            <a:ext cx="0" cy="777240"/>
          </a:xfrm>
          <a:prstGeom prst="line">
            <a:avLst/>
          </a:prstGeom>
          <a:ln>
            <a:solidFill>
              <a:srgbClr val="737D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83280" y="4572000"/>
            <a:ext cx="18288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2D343C"/>
                </a:solidFill>
              </a:defRPr>
            </a:pPr>
            <a:r>
              <a:t>Sales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97680" y="3794760"/>
            <a:ext cx="0" cy="777240"/>
          </a:xfrm>
          <a:prstGeom prst="line">
            <a:avLst/>
          </a:prstGeom>
          <a:ln>
            <a:solidFill>
              <a:srgbClr val="737D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669280" y="4572000"/>
            <a:ext cx="18288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1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2D343C"/>
                </a:solidFill>
              </a:defRPr>
            </a:pPr>
            <a:r>
              <a:t>Analytics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0" y="3794760"/>
            <a:ext cx="0" cy="777240"/>
          </a:xfrm>
          <a:prstGeom prst="line">
            <a:avLst/>
          </a:prstGeom>
          <a:ln>
            <a:solidFill>
              <a:srgbClr val="737D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955279" y="4572000"/>
            <a:ext cx="18288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2D343C"/>
                </a:solidFill>
              </a:defRPr>
            </a:pPr>
            <a:r>
              <a:t>Activity / History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69680" y="3794760"/>
            <a:ext cx="0" cy="777240"/>
          </a:xfrm>
          <a:prstGeom prst="line">
            <a:avLst/>
          </a:prstGeom>
          <a:ln>
            <a:solidFill>
              <a:srgbClr val="737D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655624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7"/>
                </a:solidFill>
              </a:defRPr>
            </a:pPr>
            <a:r>
              <a:t>InCraft — The Art of Intelligent Inventory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28816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37D87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  <a:latin typeface="Aptos Display"/>
              </a:defRPr>
            </a:pPr>
            <a:r>
              <a:t>Experimental Setup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37D87"/>
                </a:solidFill>
                <a:latin typeface="Aptos"/>
              </a:defRPr>
            </a:pPr>
            <a:r>
              <a:t>Development workflow, data flow, and validation approach</a:t>
            </a:r>
          </a:p>
        </p:txBody>
      </p:sp>
      <p:sp>
        <p:nvSpPr>
          <p:cNvPr id="5" name="Oval 4"/>
          <p:cNvSpPr/>
          <p:nvPr/>
        </p:nvSpPr>
        <p:spPr>
          <a:xfrm>
            <a:off x="1252728" y="1417320"/>
            <a:ext cx="502920" cy="502920"/>
          </a:xfrm>
          <a:prstGeom prst="ellipse">
            <a:avLst/>
          </a:prstGeom>
          <a:solidFill>
            <a:srgbClr val="28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2057400" cy="210312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2337"/>
                </a:solidFill>
              </a:defRPr>
            </a:pPr>
            <a:r>
              <a:t>Requirement</a:t>
            </a:r>
            <a:br/>
            <a:r>
              <a:t>Analysis</a:t>
            </a:r>
          </a:p>
          <a:p>
            <a:pPr algn="ctr">
              <a:spcBef>
                <a:spcPts val="800"/>
              </a:spcBef>
              <a:defRPr sz="1100">
                <a:solidFill>
                  <a:srgbClr val="2D343C"/>
                </a:solidFill>
              </a:defRPr>
            </a:pPr>
            <a:r>
              <a:t>Identify business needs and define modules.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51760" y="3108960"/>
            <a:ext cx="246888" cy="0"/>
          </a:xfrm>
          <a:prstGeom prst="line">
            <a:avLst/>
          </a:prstGeom>
          <a:ln>
            <a:solidFill>
              <a:srgbClr val="737D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557015" y="1417320"/>
            <a:ext cx="502920" cy="502920"/>
          </a:xfrm>
          <a:prstGeom prst="ellipse">
            <a:avLst/>
          </a:prstGeom>
          <a:solidFill>
            <a:srgbClr val="28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648" y="2057400"/>
            <a:ext cx="2057400" cy="210312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2337"/>
                </a:solidFill>
              </a:defRPr>
            </a:pPr>
            <a:r>
              <a:t>Database</a:t>
            </a:r>
            <a:br/>
            <a:r>
              <a:t>Design</a:t>
            </a:r>
          </a:p>
          <a:p>
            <a:pPr algn="ctr">
              <a:spcBef>
                <a:spcPts val="800"/>
              </a:spcBef>
              <a:defRPr sz="1100">
                <a:solidFill>
                  <a:srgbClr val="2D343C"/>
                </a:solidFill>
              </a:defRPr>
            </a:pPr>
            <a:r>
              <a:t>Design tables and relationships for users, products and sales.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56048" y="3108960"/>
            <a:ext cx="246888" cy="0"/>
          </a:xfrm>
          <a:prstGeom prst="line">
            <a:avLst/>
          </a:prstGeom>
          <a:ln>
            <a:solidFill>
              <a:srgbClr val="737D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861304" y="1417320"/>
            <a:ext cx="502920" cy="502920"/>
          </a:xfrm>
          <a:prstGeom prst="ellipse">
            <a:avLst/>
          </a:prstGeom>
          <a:solidFill>
            <a:srgbClr val="28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02936" y="2057400"/>
            <a:ext cx="2057400" cy="210312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2337"/>
                </a:solidFill>
              </a:defRPr>
            </a:pPr>
            <a:r>
              <a:t>Backend</a:t>
            </a:r>
            <a:br/>
            <a:r>
              <a:t>Development</a:t>
            </a:r>
          </a:p>
          <a:p>
            <a:pPr algn="ctr">
              <a:spcBef>
                <a:spcPts val="800"/>
              </a:spcBef>
              <a:defRPr sz="1100">
                <a:solidFill>
                  <a:srgbClr val="2D343C"/>
                </a:solidFill>
              </a:defRPr>
            </a:pPr>
            <a:r>
              <a:t>Implement Flask routes, validation and business logic.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60336" y="3108960"/>
            <a:ext cx="246888" cy="0"/>
          </a:xfrm>
          <a:prstGeom prst="line">
            <a:avLst/>
          </a:prstGeom>
          <a:ln>
            <a:solidFill>
              <a:srgbClr val="737D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165592" y="1417320"/>
            <a:ext cx="502920" cy="502920"/>
          </a:xfrm>
          <a:prstGeom prst="ellipse">
            <a:avLst/>
          </a:prstGeom>
          <a:solidFill>
            <a:srgbClr val="28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07224" y="2057400"/>
            <a:ext cx="2057400" cy="210312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2337"/>
                </a:solidFill>
              </a:defRPr>
            </a:pPr>
            <a:r>
              <a:t>Frontend</a:t>
            </a:r>
            <a:br/>
            <a:r>
              <a:t>Development</a:t>
            </a:r>
          </a:p>
          <a:p>
            <a:pPr algn="ctr">
              <a:spcBef>
                <a:spcPts val="800"/>
              </a:spcBef>
              <a:defRPr sz="1100">
                <a:solidFill>
                  <a:srgbClr val="2D343C"/>
                </a:solidFill>
              </a:defRPr>
            </a:pPr>
            <a:r>
              <a:t>Build responsive pages, forms, dashboard and search.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564624" y="3108960"/>
            <a:ext cx="246888" cy="0"/>
          </a:xfrm>
          <a:prstGeom prst="line">
            <a:avLst/>
          </a:prstGeom>
          <a:ln>
            <a:solidFill>
              <a:srgbClr val="737D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0469880" y="1417320"/>
            <a:ext cx="502920" cy="502920"/>
          </a:xfrm>
          <a:prstGeom prst="ellipse">
            <a:avLst/>
          </a:prstGeom>
          <a:solidFill>
            <a:srgbClr val="28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11512" y="2057400"/>
            <a:ext cx="2057400" cy="210312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2337"/>
                </a:solidFill>
              </a:defRPr>
            </a:pPr>
            <a:r>
              <a:t>Integration &amp;</a:t>
            </a:r>
            <a:br/>
            <a:r>
              <a:t>Testing</a:t>
            </a:r>
          </a:p>
          <a:p>
            <a:pPr algn="ctr">
              <a:spcBef>
                <a:spcPts val="800"/>
              </a:spcBef>
              <a:defRPr sz="1100">
                <a:solidFill>
                  <a:srgbClr val="2D343C"/>
                </a:solidFill>
              </a:defRPr>
            </a:pPr>
            <a:r>
              <a:t>Connect UI, backend and MySQL; test core workflows.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572000"/>
            <a:ext cx="534924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Ins="164592" rtlCol="0" anchor="ctr"/>
          <a:lstStyle/>
          <a:p>
            <a:pPr algn="ctr">
              <a:defRPr sz="1700" b="1">
                <a:solidFill>
                  <a:srgbClr val="192337"/>
                </a:solidFill>
              </a:defRPr>
            </a:pPr>
            <a:r>
              <a:t>Data Collection Plan</a:t>
            </a:r>
          </a:p>
          <a:p>
            <a:pPr>
              <a:spcBef>
                <a:spcPts val="600"/>
              </a:spcBef>
              <a:defRPr sz="1250">
                <a:solidFill>
                  <a:srgbClr val="2D343C"/>
                </a:solidFill>
              </a:defRPr>
            </a:pPr>
            <a:r>
              <a:t>Use sample product, stock and sales records to validate workflows and analytics.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572000"/>
            <a:ext cx="73152" cy="1417320"/>
          </a:xfrm>
          <a:prstGeom prst="rect">
            <a:avLst/>
          </a:prstGeom>
          <a:solidFill>
            <a:srgbClr val="37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72200" y="4572000"/>
            <a:ext cx="534924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Ins="164592" rtlCol="0" anchor="ctr"/>
          <a:lstStyle/>
          <a:p>
            <a:pPr algn="ctr">
              <a:defRPr sz="1700" b="1">
                <a:solidFill>
                  <a:srgbClr val="192337"/>
                </a:solidFill>
              </a:defRPr>
            </a:pPr>
            <a:r>
              <a:t>Analytical Framework</a:t>
            </a:r>
          </a:p>
          <a:p>
            <a:pPr>
              <a:spcBef>
                <a:spcPts val="600"/>
              </a:spcBef>
              <a:defRPr sz="1250">
                <a:solidFill>
                  <a:srgbClr val="2D343C"/>
                </a:solidFill>
              </a:defRPr>
            </a:pPr>
            <a:r>
              <a:t>Compare stock levels, sales activity and trends to identify useful business insights.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4572000"/>
            <a:ext cx="73152" cy="1417320"/>
          </a:xfrm>
          <a:prstGeom prst="rect">
            <a:avLst/>
          </a:prstGeom>
          <a:solidFill>
            <a:srgbClr val="41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" y="655624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7"/>
                </a:solidFill>
              </a:defRPr>
            </a:pPr>
            <a:r>
              <a:t>InCraft — The Art of Intelligent Inventory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28816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37D87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  <a:latin typeface="Aptos Display"/>
              </a:defRPr>
            </a:pPr>
            <a:r>
              <a:t>Resources, Feasibility &amp;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37D87"/>
                </a:solidFill>
                <a:latin typeface="Aptos"/>
              </a:defRPr>
            </a:pPr>
            <a:r>
              <a:t>Engineering resources and the practical value of the proposed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520440" cy="452628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Ins="164592" rtlCol="0" anchor="ctr"/>
          <a:lstStyle/>
          <a:p>
            <a:pPr algn="ctr">
              <a:defRPr sz="1700" b="1">
                <a:solidFill>
                  <a:srgbClr val="192337"/>
                </a:solidFill>
              </a:defRPr>
            </a:pPr>
            <a:r>
              <a:t>Required Software</a:t>
            </a:r>
          </a:p>
          <a:p>
            <a:pPr>
              <a:spcBef>
                <a:spcPts val="600"/>
              </a:spcBef>
              <a:defRPr sz="1250">
                <a:solidFill>
                  <a:srgbClr val="2D343C"/>
                </a:solidFill>
              </a:defRPr>
            </a:pPr>
            <a:r>
              <a:t>Python</a:t>
            </a:r>
          </a:p>
          <a:p>
            <a:pPr>
              <a:spcBef>
                <a:spcPts val="600"/>
              </a:spcBef>
              <a:defRPr sz="1250">
                <a:solidFill>
                  <a:srgbClr val="2D343C"/>
                </a:solidFill>
              </a:defRPr>
            </a:pPr>
            <a:r>
              <a:t>Flask</a:t>
            </a:r>
          </a:p>
          <a:p>
            <a:pPr>
              <a:spcBef>
                <a:spcPts val="600"/>
              </a:spcBef>
              <a:defRPr sz="1250">
                <a:solidFill>
                  <a:srgbClr val="2D343C"/>
                </a:solidFill>
              </a:defRPr>
            </a:pPr>
            <a:r>
              <a:t>HTML, CSS &amp; JavaScript</a:t>
            </a:r>
          </a:p>
          <a:p>
            <a:pPr>
              <a:spcBef>
                <a:spcPts val="600"/>
              </a:spcBef>
              <a:defRPr sz="1250">
                <a:solidFill>
                  <a:srgbClr val="2D343C"/>
                </a:solidFill>
              </a:defRPr>
            </a:pPr>
            <a:r>
              <a:t>MySQL</a:t>
            </a:r>
          </a:p>
          <a:p>
            <a:pPr>
              <a:spcBef>
                <a:spcPts val="600"/>
              </a:spcBef>
              <a:defRPr sz="1250">
                <a:solidFill>
                  <a:srgbClr val="2D343C"/>
                </a:solidFill>
              </a:defRPr>
            </a:pPr>
            <a:r>
              <a:t>Web browser / development 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73152" cy="4526280"/>
          </a:xfrm>
          <a:prstGeom prst="rect">
            <a:avLst/>
          </a:prstGeom>
          <a:solidFill>
            <a:srgbClr val="28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520440" cy="452628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Ins="164592" rtlCol="0" anchor="ctr"/>
          <a:lstStyle/>
          <a:p>
            <a:pPr algn="ctr">
              <a:defRPr sz="1700" b="1">
                <a:solidFill>
                  <a:srgbClr val="192337"/>
                </a:solidFill>
              </a:defRPr>
            </a:pPr>
            <a:r>
              <a:t>Feasibility</a:t>
            </a:r>
          </a:p>
          <a:p>
            <a:pPr>
              <a:spcBef>
                <a:spcPts val="600"/>
              </a:spcBef>
              <a:defRPr sz="1250">
                <a:solidFill>
                  <a:srgbClr val="2D343C"/>
                </a:solidFill>
              </a:defRPr>
            </a:pPr>
            <a:r>
              <a:t>Uses widely available open-source technologies.</a:t>
            </a:r>
          </a:p>
          <a:p>
            <a:pPr>
              <a:spcBef>
                <a:spcPts val="600"/>
              </a:spcBef>
              <a:defRPr sz="1250">
                <a:solidFill>
                  <a:srgbClr val="2D343C"/>
                </a:solidFill>
              </a:defRPr>
            </a:pPr>
            <a:r>
              <a:t>Can run on a standard student/development computer.</a:t>
            </a:r>
          </a:p>
          <a:p>
            <a:pPr>
              <a:spcBef>
                <a:spcPts val="600"/>
              </a:spcBef>
              <a:defRPr sz="1250">
                <a:solidFill>
                  <a:srgbClr val="2D343C"/>
                </a:solidFill>
              </a:defRPr>
            </a:pPr>
            <a:r>
              <a:t>Modular architecture supports incremental development.</a:t>
            </a:r>
          </a:p>
          <a:p>
            <a:pPr>
              <a:spcBef>
                <a:spcPts val="600"/>
              </a:spcBef>
              <a:defRPr sz="1250">
                <a:solidFill>
                  <a:srgbClr val="2D343C"/>
                </a:solidFill>
              </a:defRPr>
            </a:pPr>
            <a:r>
              <a:t>Database-backed design supports future scaling.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325880"/>
            <a:ext cx="73152" cy="4526280"/>
          </a:xfrm>
          <a:prstGeom prst="rect">
            <a:avLst/>
          </a:prstGeom>
          <a:solidFill>
            <a:srgbClr val="37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92440" y="1325880"/>
            <a:ext cx="3520440" cy="452628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Ins="164592" rtlCol="0" anchor="ctr"/>
          <a:lstStyle/>
          <a:p>
            <a:pPr algn="ctr">
              <a:defRPr sz="1700" b="1">
                <a:solidFill>
                  <a:srgbClr val="192337"/>
                </a:solidFill>
              </a:defRPr>
            </a:pPr>
            <a:r>
              <a:t>Innovative Elements</a:t>
            </a:r>
          </a:p>
          <a:p>
            <a:pPr>
              <a:spcBef>
                <a:spcPts val="600"/>
              </a:spcBef>
              <a:defRPr sz="1250">
                <a:solidFill>
                  <a:srgbClr val="2D343C"/>
                </a:solidFill>
              </a:defRPr>
            </a:pPr>
            <a:r>
              <a:t>Unified inventory + sales workflow.</a:t>
            </a:r>
          </a:p>
          <a:p>
            <a:pPr>
              <a:spcBef>
                <a:spcPts val="600"/>
              </a:spcBef>
              <a:defRPr sz="1250">
                <a:solidFill>
                  <a:srgbClr val="2D343C"/>
                </a:solidFill>
              </a:defRPr>
            </a:pPr>
            <a:r>
              <a:t>Integrated search and record discovery.</a:t>
            </a:r>
          </a:p>
          <a:p>
            <a:pPr>
              <a:spcBef>
                <a:spcPts val="600"/>
              </a:spcBef>
              <a:defRPr sz="1250">
                <a:solidFill>
                  <a:srgbClr val="2D343C"/>
                </a:solidFill>
              </a:defRPr>
            </a:pPr>
            <a:r>
              <a:t>Analytics dashboard for actionable insights.</a:t>
            </a:r>
          </a:p>
          <a:p>
            <a:pPr>
              <a:spcBef>
                <a:spcPts val="600"/>
              </a:spcBef>
              <a:defRPr sz="1250">
                <a:solidFill>
                  <a:srgbClr val="2D343C"/>
                </a:solidFill>
              </a:defRPr>
            </a:pPr>
            <a:r>
              <a:t>Import/export and print/download support.</a:t>
            </a:r>
          </a:p>
          <a:p>
            <a:pPr>
              <a:spcBef>
                <a:spcPts val="600"/>
              </a:spcBef>
              <a:defRPr sz="1250">
                <a:solidFill>
                  <a:srgbClr val="2D343C"/>
                </a:solidFill>
              </a:defRPr>
            </a:pPr>
            <a:r>
              <a:t>Activity/history for traceability.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325880"/>
            <a:ext cx="73152" cy="4526280"/>
          </a:xfrm>
          <a:prstGeom prst="rect">
            <a:avLst/>
          </a:prstGeom>
          <a:solidFill>
            <a:srgbClr val="E68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655624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7"/>
                </a:solidFill>
              </a:defRPr>
            </a:pPr>
            <a:r>
              <a:t>InCraft — The Art of Intelligent 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28816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37D87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966960" y="0"/>
            <a:ext cx="2221992" cy="1097280"/>
          </a:xfrm>
          <a:prstGeom prst="rect">
            <a:avLst/>
          </a:prstGeom>
          <a:solidFill>
            <a:srgbClr val="28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652760" y="1097280"/>
            <a:ext cx="1536192" cy="1828800"/>
          </a:xfrm>
          <a:prstGeom prst="rect">
            <a:avLst/>
          </a:prstGeom>
          <a:solidFill>
            <a:srgbClr val="41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2377440" cy="640080"/>
          </a:xfrm>
          <a:prstGeom prst="rect">
            <a:avLst/>
          </a:prstGeom>
          <a:solidFill>
            <a:srgbClr val="28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377440" y="6217920"/>
            <a:ext cx="1188720" cy="640080"/>
          </a:xfrm>
          <a:prstGeom prst="rect">
            <a:avLst/>
          </a:prstGeom>
          <a:solidFill>
            <a:srgbClr val="41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5468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41AAD2"/>
                </a:solidFill>
              </a:defRPr>
            </a:pPr>
            <a:r>
              <a:t>InCraft — The Art of Intelligent Inventory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977639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DCE6F0"/>
                </a:solidFill>
              </a:defRPr>
            </a:pPr>
            <a:r>
              <a:t>Questions &amp; 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5715000"/>
            <a:ext cx="667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DCE6F0"/>
                </a:solidFill>
              </a:defRPr>
            </a:pPr>
            <a:r>
              <a:t>Minor Project • Phase 2 • Management Criteria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432</Words>
  <Application>Microsoft Office PowerPoint</Application>
  <PresentationFormat>Widescreen</PresentationFormat>
  <Paragraphs>78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Ayush Anand</dc:creator>
  <cp:keywords/>
  <dc:description>generated using python-pptx</dc:description>
  <cp:lastModifiedBy>Ayush Anand</cp:lastModifiedBy>
  <cp:revision>3</cp:revision>
  <dcterms:created xsi:type="dcterms:W3CDTF">2013-01-27T09:14:16Z</dcterms:created>
  <dcterms:modified xsi:type="dcterms:W3CDTF">2026-09-09T09:30:02Z</dcterms:modified>
  <cp:category/>
</cp:coreProperties>
</file>